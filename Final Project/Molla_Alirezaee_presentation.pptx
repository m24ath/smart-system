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3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BFA1"/>
    <a:srgbClr val="B1B7B1"/>
    <a:srgbClr val="D3A780"/>
    <a:srgbClr val="92B0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77" d="100"/>
          <a:sy n="77" d="100"/>
        </p:scale>
        <p:origin x="67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2">
                    <a:lumMod val="7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4AAD347D-5ACD-4C99-B74B-A9C85AD731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1686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8989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1784" y="0"/>
            <a:ext cx="12192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133350" ty="330200" sx="85000" sy="85000" flip="xy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accent2">
                  <a:lumMod val="50000"/>
                </a:scheme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6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796027F-7875-4030-9381-8BD8C4F21935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896" y="521208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2080"/>
            <a:ext cx="2112264" cy="228600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173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7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33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748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488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27020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509A250-FF31-4206-8172-F9D3106AACB1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56032"/>
          </a:xfrm>
        </p:spPr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02762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6496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4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89464" y="6214535"/>
            <a:ext cx="274320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2/13/2026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214535"/>
            <a:ext cx="521208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8535" y="6214535"/>
            <a:ext cx="1463040" cy="2560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</p:spTree>
    <p:extLst>
      <p:ext uri="{BB962C8B-B14F-4D97-AF65-F5344CB8AC3E}">
        <p14:creationId xmlns:p14="http://schemas.microsoft.com/office/powerpoint/2010/main" val="1737008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12B0EE4-4D39-39A5-F0BF-C2F3753BB11F}"/>
              </a:ext>
            </a:extLst>
          </p:cNvPr>
          <p:cNvSpPr txBox="1"/>
          <p:nvPr/>
        </p:nvSpPr>
        <p:spPr>
          <a:xfrm>
            <a:off x="1748590" y="3429000"/>
            <a:ext cx="652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b="1" dirty="0">
                <a:cs typeface="B Nazanin" panose="00000400000000000000" pitchFamily="2" charset="-78"/>
              </a:rPr>
              <a:t> </a:t>
            </a:r>
            <a:r>
              <a:rPr lang="fa-IR" b="1" dirty="0" err="1">
                <a:cs typeface="B Nazanin" panose="00000400000000000000" pitchFamily="2" charset="-78"/>
              </a:rPr>
              <a:t>پیش‌بینی</a:t>
            </a:r>
            <a:r>
              <a:rPr lang="fa-IR" b="1" dirty="0">
                <a:cs typeface="B Nazanin" panose="00000400000000000000" pitchFamily="2" charset="-78"/>
              </a:rPr>
              <a:t> ریزش مشتریان مخابرات با یادگیری ماشین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A4EDD-1CC8-D7E5-F35D-0E19F8494784}"/>
              </a:ext>
            </a:extLst>
          </p:cNvPr>
          <p:cNvSpPr txBox="1"/>
          <p:nvPr/>
        </p:nvSpPr>
        <p:spPr>
          <a:xfrm>
            <a:off x="1583998" y="2960754"/>
            <a:ext cx="935447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1"/>
            <a: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Customer Churn Prediction with Machine Learning</a:t>
            </a:r>
          </a:p>
          <a:p>
            <a:r>
              <a:rPr lang="fa-IR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a-IR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678F32-04B0-3190-9428-B9E4E1B952F0}"/>
              </a:ext>
            </a:extLst>
          </p:cNvPr>
          <p:cNvSpPr txBox="1"/>
          <p:nvPr/>
        </p:nvSpPr>
        <p:spPr>
          <a:xfrm>
            <a:off x="4286129" y="4767828"/>
            <a:ext cx="3950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a-IR" dirty="0">
                <a:cs typeface="B Nazanin" panose="00000400000000000000" pitchFamily="2" charset="-78"/>
              </a:rPr>
              <a:t>نیلوفر ملا 40122903</a:t>
            </a:r>
            <a:br>
              <a:rPr lang="fa-IR" dirty="0">
                <a:cs typeface="B Nazanin" panose="00000400000000000000" pitchFamily="2" charset="-78"/>
              </a:rPr>
            </a:br>
            <a:r>
              <a:rPr lang="fa-IR" dirty="0" err="1">
                <a:cs typeface="B Nazanin" panose="00000400000000000000" pitchFamily="2" charset="-78"/>
              </a:rPr>
              <a:t>محدثه</a:t>
            </a:r>
            <a:r>
              <a:rPr lang="fa-IR" dirty="0">
                <a:cs typeface="B Nazanin" panose="00000400000000000000" pitchFamily="2" charset="-78"/>
              </a:rPr>
              <a:t> علیرضایی طهرانی 40121123</a:t>
            </a:r>
            <a:endParaRPr lang="en-US" dirty="0">
              <a:cs typeface="B Nazanin" panose="00000400000000000000" pitchFamily="2" charset="-78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393094" y="1517780"/>
            <a:ext cx="14306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2400" dirty="0" smtClean="0">
                <a:latin typeface="BNazanin"/>
                <a:cs typeface="B Nazanin" panose="00000400000000000000" pitchFamily="2" charset="-78"/>
              </a:rPr>
              <a:t>به نام خدا</a:t>
            </a:r>
            <a:endParaRPr lang="en-US" sz="2400" dirty="0">
              <a:latin typeface="BNazanin"/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75540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C43DDF4-FDEA-9E2E-71B2-0189E3A0F858}"/>
              </a:ext>
            </a:extLst>
          </p:cNvPr>
          <p:cNvSpPr txBox="1"/>
          <p:nvPr/>
        </p:nvSpPr>
        <p:spPr>
          <a:xfrm>
            <a:off x="1912882" y="2127693"/>
            <a:ext cx="81350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a-IR" sz="3600" dirty="0">
                <a:cs typeface="B Nazanin" panose="00000400000000000000" pitchFamily="2" charset="-78"/>
              </a:rPr>
              <a:t>توضیح </a:t>
            </a:r>
            <a:r>
              <a:rPr lang="fa-IR" sz="3600" dirty="0" err="1">
                <a:cs typeface="B Nazanin" panose="00000400000000000000" pitchFamily="2" charset="-78"/>
              </a:rPr>
              <a:t>دیتاست</a:t>
            </a:r>
            <a:endParaRPr lang="fa-IR" sz="3600" dirty="0">
              <a:cs typeface="B Nazanin" panose="00000400000000000000" pitchFamily="2" charset="-78"/>
            </a:endParaRPr>
          </a:p>
          <a:p>
            <a:pPr algn="ctr"/>
            <a:r>
              <a:rPr lang="fa-IR" sz="3600" dirty="0">
                <a:cs typeface="B Nazanin" panose="00000400000000000000" pitchFamily="2" charset="-78"/>
              </a:rPr>
              <a:t>ستون هدف</a:t>
            </a:r>
          </a:p>
          <a:p>
            <a:pPr algn="ctr"/>
            <a:r>
              <a:rPr lang="fa-IR" sz="3600" dirty="0">
                <a:cs typeface="B Nazanin" panose="00000400000000000000" pitchFamily="2" charset="-78"/>
              </a:rPr>
              <a:t>ویژگی های عدد 3 تا</a:t>
            </a:r>
          </a:p>
          <a:p>
            <a:pPr algn="ctr"/>
            <a:r>
              <a:rPr lang="fa-IR" sz="3600" dirty="0">
                <a:cs typeface="B Nazanin" panose="00000400000000000000" pitchFamily="2" charset="-78"/>
              </a:rPr>
              <a:t>ویژگی های  دسته ای 16 تا</a:t>
            </a:r>
            <a:endParaRPr lang="en-US" sz="36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98615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176A3DF-A210-478D-504C-90FCBD231EBA}"/>
              </a:ext>
            </a:extLst>
          </p:cNvPr>
          <p:cNvSpPr/>
          <p:nvPr/>
        </p:nvSpPr>
        <p:spPr>
          <a:xfrm>
            <a:off x="231228" y="252249"/>
            <a:ext cx="11729546" cy="6358758"/>
          </a:xfrm>
          <a:prstGeom prst="rect">
            <a:avLst/>
          </a:prstGeom>
          <a:solidFill>
            <a:srgbClr val="B1B7B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E57020-4DA4-70DC-0596-59BF7B3AC64C}"/>
              </a:ext>
            </a:extLst>
          </p:cNvPr>
          <p:cNvSpPr txBox="1"/>
          <p:nvPr/>
        </p:nvSpPr>
        <p:spPr>
          <a:xfrm>
            <a:off x="586274" y="640986"/>
            <a:ext cx="11019452" cy="543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r" rtl="1">
              <a:lnSpc>
                <a:spcPct val="107000"/>
              </a:lnSpc>
              <a:spcAft>
                <a:spcPts val="800"/>
              </a:spcAft>
              <a:buNone/>
            </a:pPr>
            <a:r>
              <a:rPr lang="ar-SA" sz="2400" b="1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مراحل پروژه</a:t>
            </a:r>
            <a:endParaRPr lang="fa-IR" sz="2400" b="1" dirty="0">
              <a:effectLst/>
              <a:latin typeface="BNazanin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0" marR="0" algn="r" rtl="1">
              <a:lnSpc>
                <a:spcPct val="107000"/>
              </a:lnSpc>
              <a:spcAft>
                <a:spcPts val="800"/>
              </a:spcAft>
              <a:buNone/>
            </a:pP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آماده سازی داده ها و بررسی دیتاست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پیش پردازش داده ها(حذف ستون غیر ضروری، مدیریت داده های گمشده، تبدیل ویژگی های غیر عددی به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عددی، استاندارد سازی، نرمال سازی، مدیریت داده های پرت)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کاهش ابعاد (</a:t>
            </a:r>
            <a:r>
              <a:rPr lang="en-US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PCA  - LDA -   t-SNE</a:t>
            </a: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)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آموزش </a:t>
            </a:r>
            <a:r>
              <a:rPr lang="en-US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3</a:t>
            </a: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 مدل </a:t>
            </a:r>
            <a:r>
              <a:rPr lang="en-US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Logistic Regression-SVM-Decision Tree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تنظیم هایپرپارامترها با </a:t>
            </a:r>
            <a:r>
              <a:rPr lang="en-US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Grid Search – Random Search</a:t>
            </a: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 و بهینه سازی با </a:t>
            </a:r>
            <a:r>
              <a:rPr lang="en-US" sz="2400" dirty="0" err="1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Optuna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ارزیابی و تکرارپذیری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pPr marL="342900" marR="0" lvl="0" indent="-342900" algn="r" rtl="1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"/>
            </a:pPr>
            <a:r>
              <a:rPr lang="ar-SA" sz="2400" dirty="0">
                <a:effectLst/>
                <a:latin typeface="BNazanin"/>
                <a:ea typeface="Calibri" panose="020F0502020204030204" pitchFamily="34" charset="0"/>
                <a:cs typeface="B Nazanin" panose="00000400000000000000" pitchFamily="2" charset="-78"/>
              </a:rPr>
              <a:t>تحلیل نتایج با معیارها و نمودارهای متفاوت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B Nazanin" panose="00000400000000000000" pitchFamily="2" charset="-78"/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74116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92B2A9-339C-CCE8-AD17-6313DC30C3BA}"/>
              </a:ext>
            </a:extLst>
          </p:cNvPr>
          <p:cNvSpPr txBox="1"/>
          <p:nvPr/>
        </p:nvSpPr>
        <p:spPr>
          <a:xfrm>
            <a:off x="6763916" y="419159"/>
            <a:ext cx="5085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a-IR" sz="2400" b="1" dirty="0">
                <a:cs typeface="B Nazanin" panose="00000400000000000000" pitchFamily="2" charset="-78"/>
              </a:rPr>
              <a:t>آماده سازی داده ها </a:t>
            </a:r>
            <a:endParaRPr lang="en-US" sz="2400" b="1" dirty="0">
              <a:cs typeface="B Nazanin" panose="00000400000000000000" pitchFamily="2" charset="-78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591EF-32BB-C583-17FC-1E3DBE00A716}"/>
              </a:ext>
            </a:extLst>
          </p:cNvPr>
          <p:cNvSpPr txBox="1"/>
          <p:nvPr/>
        </p:nvSpPr>
        <p:spPr>
          <a:xfrm>
            <a:off x="342900" y="591086"/>
            <a:ext cx="120523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================= BASIC SHAPE =================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Rows (samples): 7043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Columns (all): 21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Target column: Churn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Features (excluding target): 20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================= COLUMNS =================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['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customerID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'gender',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SeniorCitizen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'Partner', 'Dependents', 'tenure',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PhoneService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MultipleLines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InternetService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OnlineSecurity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OnlineBackup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DeviceProtection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TechSupport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StreamingTV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StreamingMovies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'Contract',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PaperlessBilling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PaymentMethod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MonthlyCharges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TotalCharges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', 'Churn']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================= DATA.INFO() =================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&lt;class '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pandas.core.frame.DataFrame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'&gt;</a:t>
            </a:r>
          </a:p>
          <a:p>
            <a:pPr marL="0" marR="0">
              <a:buNone/>
            </a:pP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RangeIndex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: 7043 entries, 0 to 7042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Data columns (total 21 columns):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#   Column            Non-Null Count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Dtype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---  ------            --------------  ----- 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0 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customerID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   gender      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2 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SeniorCitizen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7043 non-null   int64 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3   Partner     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4   Dependents  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5   tenure            7043 non-null   int64 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6 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PhoneService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7 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MultipleLines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8 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InternetService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9 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OnlineSecurity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10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OnlineBackup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11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DeviceProtection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12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TechSupport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13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StreamingTV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14  </a:t>
            </a:r>
            <a:r>
              <a:rPr lang="en-US" sz="11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StreamingMovies</a:t>
            </a: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15  Contract          7043 non-null   object </a:t>
            </a:r>
          </a:p>
          <a:p>
            <a:pPr marL="0" marR="0">
              <a:buNone/>
            </a:pPr>
            <a:r>
              <a:rPr lang="en-US" sz="1100" dirty="0">
                <a:effectLst/>
                <a:latin typeface="Courier New" panose="02070309020205020404" pitchFamily="49" charset="0"/>
                <a:ea typeface="Times New Roman" panose="02020603050405020304" pitchFamily="18" charset="0"/>
              </a:rPr>
              <a:t> 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8D743D-376E-F330-E9E2-12664F82BE22}"/>
              </a:ext>
            </a:extLst>
          </p:cNvPr>
          <p:cNvSpPr txBox="1"/>
          <p:nvPr/>
        </p:nvSpPr>
        <p:spPr>
          <a:xfrm>
            <a:off x="4457700" y="2622412"/>
            <a:ext cx="62738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16 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PaperlessBilling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 7043 non-null   object 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17 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PaymentMethod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7043 non-null   object 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18 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MonthlyCharges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7043 non-null   float64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19 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TotalCharges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7043 non-null   object 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20  Churn             7043 non-null   object </a:t>
            </a:r>
          </a:p>
          <a:p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dtypes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: float64(1), int64(2), object(18)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memory usage: 1.1+ MB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================= MISSING VALUES (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NaN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) =================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No </a:t>
            </a:r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NaN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values found.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================= BLANK/EMPTY STRINGS (OBJECT COLUMNS) =================</a:t>
            </a:r>
          </a:p>
          <a:p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TotalCharges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11</a:t>
            </a:r>
          </a:p>
          <a:p>
            <a:r>
              <a:rPr lang="en-US" sz="1100" dirty="0" err="1">
                <a:latin typeface="Courier New" panose="02070309020205020404" pitchFamily="49" charset="0"/>
                <a:ea typeface="Times New Roman" panose="02020603050405020304" pitchFamily="18" charset="0"/>
              </a:rPr>
              <a:t>dtype</a:t>
            </a:r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: int64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 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================= CLASS DISTRIBUTION (Churn) =================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       count  percent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Churn                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No      5174    73.46</a:t>
            </a:r>
          </a:p>
          <a:p>
            <a:r>
              <a:rPr lang="en-US" sz="1100" dirty="0">
                <a:latin typeface="Courier New" panose="02070309020205020404" pitchFamily="49" charset="0"/>
                <a:ea typeface="Times New Roman" panose="02020603050405020304" pitchFamily="18" charset="0"/>
              </a:rPr>
              <a:t>Yes     1869    26.54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55489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7CCA944-7783-C0D7-9B06-588FDF7D051E}"/>
              </a:ext>
            </a:extLst>
          </p:cNvPr>
          <p:cNvSpPr/>
          <p:nvPr/>
        </p:nvSpPr>
        <p:spPr>
          <a:xfrm>
            <a:off x="241738" y="252248"/>
            <a:ext cx="11708524" cy="6390290"/>
          </a:xfrm>
          <a:prstGeom prst="rect">
            <a:avLst/>
          </a:prstGeom>
          <a:solidFill>
            <a:srgbClr val="DFBFA1"/>
          </a:solidFill>
          <a:ln>
            <a:solidFill>
              <a:srgbClr val="DFB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17DA9-5496-00A8-5C2B-BC2172FEB013}"/>
              </a:ext>
            </a:extLst>
          </p:cNvPr>
          <p:cNvSpPr txBox="1"/>
          <p:nvPr/>
        </p:nvSpPr>
        <p:spPr>
          <a:xfrm>
            <a:off x="971550" y="735191"/>
            <a:ext cx="1059815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cs typeface="B Nazanin" panose="00000400000000000000" pitchFamily="2" charset="-78"/>
              </a:rPr>
              <a:t>پیش پردازش ها</a:t>
            </a:r>
            <a:r>
              <a:rPr lang="fa-IR" sz="2800" dirty="0">
                <a:cs typeface="B Nazanin" panose="00000400000000000000" pitchFamily="2" charset="-78"/>
              </a:rPr>
              <a:t/>
            </a:r>
            <a:br>
              <a:rPr lang="fa-IR" sz="2800" dirty="0">
                <a:cs typeface="B Nazanin" panose="00000400000000000000" pitchFamily="2" charset="-78"/>
              </a:rPr>
            </a:br>
            <a:r>
              <a:rPr lang="fa-IR" sz="2800" dirty="0">
                <a:cs typeface="B Nazanin" panose="00000400000000000000" pitchFamily="2" charset="-78"/>
              </a:rPr>
              <a:t>مشترک:</a:t>
            </a:r>
            <a:br>
              <a:rPr lang="fa-IR" sz="2800" dirty="0">
                <a:cs typeface="B Nazanin" panose="00000400000000000000" pitchFamily="2" charset="-78"/>
              </a:rPr>
            </a:br>
            <a:r>
              <a:rPr lang="fa-IR" sz="2800" dirty="0">
                <a:cs typeface="B Nazanin" panose="00000400000000000000" pitchFamily="2" charset="-78"/>
              </a:rPr>
              <a:t>حذف ستون بی ارزش </a:t>
            </a:r>
            <a:r>
              <a:rPr lang="en-US" sz="2800" dirty="0" err="1">
                <a:cs typeface="B Nazanin" panose="00000400000000000000" pitchFamily="2" charset="-78"/>
              </a:rPr>
              <a:t>customerID</a:t>
            </a:r>
            <a:r>
              <a:rPr lang="fa-IR" sz="2800" dirty="0">
                <a:cs typeface="B Nazanin" panose="00000400000000000000" pitchFamily="2" charset="-78"/>
              </a:rPr>
              <a:t/>
            </a:r>
            <a:br>
              <a:rPr lang="fa-IR" sz="2800" dirty="0">
                <a:cs typeface="B Nazanin" panose="00000400000000000000" pitchFamily="2" charset="-78"/>
              </a:rPr>
            </a:br>
            <a:r>
              <a:rPr lang="fa-IR" sz="2800" dirty="0">
                <a:cs typeface="B Nazanin" panose="00000400000000000000" pitchFamily="2" charset="-78"/>
              </a:rPr>
              <a:t>تبدیل ستون </a:t>
            </a:r>
            <a:r>
              <a:rPr lang="en-US" sz="2800" dirty="0" err="1">
                <a:cs typeface="B Nazanin" panose="00000400000000000000" pitchFamily="2" charset="-78"/>
              </a:rPr>
              <a:t>TotalCharges</a:t>
            </a:r>
            <a:r>
              <a:rPr lang="fa-IR" sz="2800" dirty="0">
                <a:cs typeface="B Nazanin" panose="00000400000000000000" pitchFamily="2" charset="-78"/>
              </a:rPr>
              <a:t> به عددی و حذف ردیف های دارای مقادیر خالی</a:t>
            </a:r>
            <a:br>
              <a:rPr lang="fa-IR" sz="2800" dirty="0">
                <a:cs typeface="B Nazanin" panose="00000400000000000000" pitchFamily="2" charset="-78"/>
              </a:rPr>
            </a:br>
            <a:r>
              <a:rPr lang="fa-IR" sz="2800" dirty="0">
                <a:cs typeface="B Nazanin" panose="00000400000000000000" pitchFamily="2" charset="-78"/>
              </a:rPr>
              <a:t>تقسیم داده ها به </a:t>
            </a:r>
            <a:r>
              <a:rPr lang="en-US" sz="2800" dirty="0">
                <a:cs typeface="B Nazanin" panose="00000400000000000000" pitchFamily="2" charset="-78"/>
              </a:rPr>
              <a:t>train/test</a:t>
            </a:r>
            <a:r>
              <a:rPr lang="fa-IR" sz="2800" dirty="0">
                <a:cs typeface="B Nazanin" panose="00000400000000000000" pitchFamily="2" charset="-78"/>
              </a:rPr>
              <a:t/>
            </a:r>
            <a:br>
              <a:rPr lang="fa-IR" sz="2800" dirty="0">
                <a:cs typeface="B Nazanin" panose="00000400000000000000" pitchFamily="2" charset="-78"/>
              </a:rPr>
            </a:br>
            <a:r>
              <a:rPr lang="fa-IR" sz="2800" dirty="0">
                <a:cs typeface="B Nazanin" panose="00000400000000000000" pitchFamily="2" charset="-78"/>
              </a:rPr>
              <a:t>تبدیل ستون های غیر عددی به عددی با </a:t>
            </a:r>
            <a:r>
              <a:rPr lang="en-US" sz="2800" dirty="0">
                <a:cs typeface="B Nazanin" panose="00000400000000000000" pitchFamily="2" charset="-78"/>
              </a:rPr>
              <a:t>one-hot</a:t>
            </a:r>
          </a:p>
          <a:p>
            <a:pPr algn="r" rtl="1"/>
            <a:r>
              <a:rPr lang="fa-IR" sz="2800" dirty="0">
                <a:cs typeface="B Nazanin" panose="00000400000000000000" pitchFamily="2" charset="-78"/>
              </a:rPr>
              <a:t/>
            </a:r>
            <a:br>
              <a:rPr lang="fa-IR" sz="2800" dirty="0">
                <a:cs typeface="B Nazanin" panose="00000400000000000000" pitchFamily="2" charset="-78"/>
              </a:rPr>
            </a:br>
            <a:r>
              <a:rPr lang="en-US" sz="2800" dirty="0">
                <a:cs typeface="B Nazanin" panose="00000400000000000000" pitchFamily="2" charset="-78"/>
              </a:rPr>
              <a:t>4</a:t>
            </a:r>
            <a:r>
              <a:rPr lang="fa-IR" sz="2800" dirty="0">
                <a:cs typeface="B Nazanin" panose="00000400000000000000" pitchFamily="2" charset="-78"/>
              </a:rPr>
              <a:t> سناریوی پیش پردازش:</a:t>
            </a:r>
            <a:endParaRPr lang="en-US" sz="2800" dirty="0">
              <a:cs typeface="B Nazanin" panose="00000400000000000000" pitchFamily="2" charset="-78"/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fa-IR" sz="2800" dirty="0">
                <a:cs typeface="B Nazanin" panose="00000400000000000000" pitchFamily="2" charset="-78"/>
              </a:rPr>
              <a:t>مشترک ها + استانداردسازی</a:t>
            </a:r>
            <a:endParaRPr lang="en-US" sz="2800" dirty="0">
              <a:cs typeface="B Nazanin" panose="00000400000000000000" pitchFamily="2" charset="-78"/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fa-IR" sz="2800" dirty="0">
                <a:cs typeface="B Nazanin" panose="00000400000000000000" pitchFamily="2" charset="-78"/>
              </a:rPr>
              <a:t>.مشترک </a:t>
            </a:r>
            <a:r>
              <a:rPr lang="fa-IR" sz="2800" dirty="0" err="1">
                <a:cs typeface="B Nazanin" panose="00000400000000000000" pitchFamily="2" charset="-78"/>
              </a:rPr>
              <a:t>ها+نرمال</a:t>
            </a:r>
            <a:r>
              <a:rPr lang="fa-IR" sz="2800" dirty="0">
                <a:cs typeface="B Nazanin" panose="00000400000000000000" pitchFamily="2" charset="-78"/>
              </a:rPr>
              <a:t> سازی</a:t>
            </a:r>
            <a:endParaRPr lang="en-US" sz="2800" dirty="0">
              <a:cs typeface="B Nazanin" panose="00000400000000000000" pitchFamily="2" charset="-78"/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fa-IR" sz="2800" dirty="0">
                <a:cs typeface="B Nazanin" panose="00000400000000000000" pitchFamily="2" charset="-78"/>
              </a:rPr>
              <a:t>مشترک ها + استانداردسازی + مدیریت داده های پرت با </a:t>
            </a:r>
            <a:r>
              <a:rPr lang="en-US" sz="2800" dirty="0">
                <a:cs typeface="B Nazanin" panose="00000400000000000000" pitchFamily="2" charset="-78"/>
              </a:rPr>
              <a:t>IQR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fa-IR" sz="2800" dirty="0">
                <a:cs typeface="B Nazanin" panose="00000400000000000000" pitchFamily="2" charset="-78"/>
              </a:rPr>
              <a:t>مشترک </a:t>
            </a:r>
            <a:r>
              <a:rPr lang="fa-IR" sz="2800" dirty="0" err="1">
                <a:cs typeface="B Nazanin" panose="00000400000000000000" pitchFamily="2" charset="-78"/>
              </a:rPr>
              <a:t>ها+نرمال</a:t>
            </a:r>
            <a:r>
              <a:rPr lang="fa-IR" sz="2800" dirty="0">
                <a:cs typeface="B Nazanin" panose="00000400000000000000" pitchFamily="2" charset="-78"/>
              </a:rPr>
              <a:t> سازی + مدیریت داده های پرت با </a:t>
            </a:r>
            <a:r>
              <a:rPr lang="en-US" sz="2800" dirty="0">
                <a:cs typeface="B Nazanin" panose="00000400000000000000" pitchFamily="2" charset="-78"/>
              </a:rPr>
              <a:t>IQR</a:t>
            </a:r>
            <a:r>
              <a:rPr lang="fa-IR" sz="2800" dirty="0">
                <a:cs typeface="B Nazanin" panose="00000400000000000000" pitchFamily="2" charset="-78"/>
              </a:rPr>
              <a:t/>
            </a:r>
            <a:br>
              <a:rPr lang="fa-IR" sz="2800" dirty="0">
                <a:cs typeface="B Nazanin" panose="00000400000000000000" pitchFamily="2" charset="-78"/>
              </a:rPr>
            </a:br>
            <a:r>
              <a:rPr lang="fa-IR" sz="2800" dirty="0">
                <a:cs typeface="B Nazanin" panose="00000400000000000000" pitchFamily="2" charset="-78"/>
              </a:rPr>
              <a:t/>
            </a:r>
            <a:br>
              <a:rPr lang="fa-IR" sz="2800" dirty="0">
                <a:cs typeface="B Nazanin" panose="00000400000000000000" pitchFamily="2" charset="-78"/>
              </a:rPr>
            </a:br>
            <a:endParaRPr lang="en-US" sz="2800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786610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3200" y="53517"/>
            <a:ext cx="10058400" cy="1371600"/>
          </a:xfrm>
        </p:spPr>
        <p:txBody>
          <a:bodyPr>
            <a:norm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قسمت های مهم کد بخش پیش پردازش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333153" y="1875619"/>
            <a:ext cx="49327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>
                <a:cs typeface="B Nazanin" panose="00000400000000000000" pitchFamily="2" charset="-78"/>
              </a:rPr>
              <a:t>برای تبدیل ستون های غیرعددی به عددی</a:t>
            </a:r>
            <a:endParaRPr lang="en-US" sz="2400" dirty="0">
              <a:cs typeface="B Nazanin" panose="00000400000000000000" pitchFamily="2" charset="-7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31000" y="4334336"/>
            <a:ext cx="3055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2400" dirty="0">
                <a:cs typeface="B Nazanin" panose="00000400000000000000" pitchFamily="2" charset="-78"/>
              </a:rPr>
              <a:t>برای مدیریت داده های پرت</a:t>
            </a:r>
            <a:endParaRPr lang="en-US" sz="2400" dirty="0">
              <a:cs typeface="B Nazanin" panose="00000400000000000000" pitchFamily="2" charset="-78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580334" y="1477417"/>
            <a:ext cx="6201466" cy="1273221"/>
            <a:chOff x="98850" y="1505339"/>
            <a:chExt cx="5716790" cy="978543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b="81636"/>
            <a:stretch/>
          </p:blipFill>
          <p:spPr>
            <a:xfrm>
              <a:off x="98850" y="1505339"/>
              <a:ext cx="5716790" cy="209161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2"/>
            <a:srcRect t="32451"/>
            <a:stretch/>
          </p:blipFill>
          <p:spPr>
            <a:xfrm>
              <a:off x="98850" y="1714500"/>
              <a:ext cx="5716790" cy="769382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>
            <a:off x="870363" y="3026195"/>
            <a:ext cx="5619337" cy="3214831"/>
            <a:chOff x="646110" y="2734345"/>
            <a:chExt cx="4927376" cy="2780991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b="93840"/>
            <a:stretch/>
          </p:blipFill>
          <p:spPr>
            <a:xfrm>
              <a:off x="646111" y="2734345"/>
              <a:ext cx="4927375" cy="180305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t="11149"/>
            <a:stretch/>
          </p:blipFill>
          <p:spPr>
            <a:xfrm>
              <a:off x="646110" y="2914650"/>
              <a:ext cx="4927375" cy="26006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5743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885" y="387514"/>
            <a:ext cx="10058400" cy="1371600"/>
          </a:xfrm>
        </p:spPr>
        <p:txBody>
          <a:bodyPr>
            <a:normAutofit/>
          </a:bodyPr>
          <a:lstStyle/>
          <a:p>
            <a:r>
              <a:rPr lang="fa-IR" sz="2800" b="1" dirty="0">
                <a:cs typeface="B Nazanin" panose="00000400000000000000" pitchFamily="2" charset="-78"/>
              </a:rPr>
              <a:t>خروجی های پیش پردازش</a:t>
            </a:r>
            <a:br>
              <a:rPr lang="fa-IR" sz="2800" b="1" dirty="0">
                <a:cs typeface="B Nazanin" panose="00000400000000000000" pitchFamily="2" charset="-78"/>
              </a:rPr>
            </a:br>
            <a:endParaRPr lang="en-US" sz="2800" b="1" dirty="0">
              <a:cs typeface="B Nazanin" panose="00000400000000000000" pitchFamily="2" charset="-78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3" y="1430646"/>
            <a:ext cx="4361999" cy="845217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6194753" y="714831"/>
            <a:ext cx="4388532" cy="1805706"/>
            <a:chOff x="6333523" y="1440315"/>
            <a:chExt cx="3077177" cy="1243662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b="80739"/>
            <a:stretch/>
          </p:blipFill>
          <p:spPr>
            <a:xfrm>
              <a:off x="6333523" y="1440315"/>
              <a:ext cx="3077177" cy="666616"/>
            </a:xfrm>
            <a:prstGeom prst="rect">
              <a:avLst/>
            </a:prstGeom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3"/>
            <a:srcRect t="51087" b="42804"/>
            <a:stretch/>
          </p:blipFill>
          <p:spPr>
            <a:xfrm>
              <a:off x="6333523" y="2106931"/>
              <a:ext cx="3077177" cy="211428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3"/>
            <a:srcRect t="89436"/>
            <a:stretch/>
          </p:blipFill>
          <p:spPr>
            <a:xfrm>
              <a:off x="6333523" y="2318359"/>
              <a:ext cx="3077177" cy="365618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518403" y="2472425"/>
            <a:ext cx="4572402" cy="1897464"/>
            <a:chOff x="2518863" y="3501849"/>
            <a:chExt cx="7154273" cy="304226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4"/>
            <a:srcRect t="82723"/>
            <a:stretch/>
          </p:blipFill>
          <p:spPr>
            <a:xfrm>
              <a:off x="2518863" y="5467739"/>
              <a:ext cx="7154273" cy="107637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4"/>
            <a:srcRect b="68446"/>
            <a:stretch/>
          </p:blipFill>
          <p:spPr>
            <a:xfrm>
              <a:off x="2518863" y="3501849"/>
              <a:ext cx="7154273" cy="1965890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/>
        </p:nvGrpSpPr>
        <p:grpSpPr>
          <a:xfrm>
            <a:off x="6182053" y="2785922"/>
            <a:ext cx="4596231" cy="1397130"/>
            <a:chOff x="2457712" y="4291431"/>
            <a:chExt cx="7087590" cy="2193993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5"/>
            <a:srcRect t="91932"/>
            <a:stretch/>
          </p:blipFill>
          <p:spPr>
            <a:xfrm>
              <a:off x="2457713" y="5735215"/>
              <a:ext cx="7087589" cy="750209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5"/>
            <a:srcRect b="84472"/>
            <a:stretch/>
          </p:blipFill>
          <p:spPr>
            <a:xfrm>
              <a:off x="2457712" y="4291431"/>
              <a:ext cx="7087589" cy="1443784"/>
            </a:xfrm>
            <a:prstGeom prst="rect">
              <a:avLst/>
            </a:prstGeom>
          </p:spPr>
        </p:pic>
      </p:grpSp>
      <p:grpSp>
        <p:nvGrpSpPr>
          <p:cNvPr id="17" name="Group 16"/>
          <p:cNvGrpSpPr/>
          <p:nvPr/>
        </p:nvGrpSpPr>
        <p:grpSpPr>
          <a:xfrm>
            <a:off x="518403" y="4570375"/>
            <a:ext cx="5301158" cy="1576906"/>
            <a:chOff x="2547442" y="4343400"/>
            <a:chExt cx="7097115" cy="2805631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 rotWithShape="1">
            <a:blip r:embed="rId6"/>
            <a:srcRect t="86231"/>
            <a:stretch/>
          </p:blipFill>
          <p:spPr>
            <a:xfrm>
              <a:off x="2547442" y="6124575"/>
              <a:ext cx="7097115" cy="1024456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 rotWithShape="1">
            <a:blip r:embed="rId6"/>
            <a:srcRect b="76060"/>
            <a:stretch/>
          </p:blipFill>
          <p:spPr>
            <a:xfrm>
              <a:off x="2547442" y="4343400"/>
              <a:ext cx="7097115" cy="1781175"/>
            </a:xfrm>
            <a:prstGeom prst="rect">
              <a:avLst/>
            </a:prstGeom>
          </p:spPr>
        </p:pic>
      </p:grpSp>
      <p:grpSp>
        <p:nvGrpSpPr>
          <p:cNvPr id="21" name="Group 20"/>
          <p:cNvGrpSpPr/>
          <p:nvPr/>
        </p:nvGrpSpPr>
        <p:grpSpPr>
          <a:xfrm>
            <a:off x="6156541" y="4463456"/>
            <a:ext cx="4830515" cy="1671125"/>
            <a:chOff x="713180" y="344839"/>
            <a:chExt cx="10621858" cy="3375158"/>
          </a:xfrm>
        </p:grpSpPr>
        <p:pic>
          <p:nvPicPr>
            <p:cNvPr id="18" name="Picture 17"/>
            <p:cNvPicPr>
              <a:picLocks noChangeAspect="1"/>
            </p:cNvPicPr>
            <p:nvPr/>
          </p:nvPicPr>
          <p:blipFill rotWithShape="1">
            <a:blip r:embed="rId7"/>
            <a:srcRect t="86758"/>
            <a:stretch/>
          </p:blipFill>
          <p:spPr>
            <a:xfrm>
              <a:off x="713180" y="2800350"/>
              <a:ext cx="10621857" cy="919647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 rotWithShape="1">
            <a:blip r:embed="rId7"/>
            <a:srcRect b="64642"/>
            <a:stretch/>
          </p:blipFill>
          <p:spPr>
            <a:xfrm>
              <a:off x="713181" y="344839"/>
              <a:ext cx="10621857" cy="245551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49814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755251" y="584200"/>
            <a:ext cx="5645549" cy="5626100"/>
            <a:chOff x="-342391" y="-148080"/>
            <a:chExt cx="10393225" cy="1208381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b="12111"/>
            <a:stretch/>
          </p:blipFill>
          <p:spPr>
            <a:xfrm>
              <a:off x="-342391" y="-148080"/>
              <a:ext cx="10393225" cy="5567805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342391" y="5419725"/>
              <a:ext cx="8240275" cy="6516009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7FAD5EA-F12C-FD70-FE5B-6A2BA37AEE07}"/>
              </a:ext>
            </a:extLst>
          </p:cNvPr>
          <p:cNvSpPr txBox="1"/>
          <p:nvPr/>
        </p:nvSpPr>
        <p:spPr>
          <a:xfrm>
            <a:off x="6866789" y="3897388"/>
            <a:ext cx="4476077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200" b="1" dirty="0">
                <a:cs typeface="B Nazanin" panose="00000400000000000000" pitchFamily="2" charset="-78"/>
              </a:rPr>
              <a:t>کاهش ابعاد</a:t>
            </a:r>
            <a:endParaRPr lang="en-US" sz="3200" b="1" dirty="0">
              <a:cs typeface="B Nazanin" panose="00000400000000000000" pitchFamily="2" charset="-78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fa-IR" sz="2800" dirty="0">
                <a:cs typeface="B Nazanin" panose="00000400000000000000" pitchFamily="2" charset="-78"/>
              </a:rPr>
              <a:t>بدون کاهش </a:t>
            </a:r>
            <a:endParaRPr lang="en-US" sz="2800" dirty="0">
              <a:cs typeface="B Nazanin" panose="00000400000000000000" pitchFamily="2" charset="-78"/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en-US" sz="2800" dirty="0">
                <a:cs typeface="B Nazanin" panose="00000400000000000000" pitchFamily="2" charset="-78"/>
              </a:rPr>
              <a:t>PCA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en-US" sz="2800" dirty="0">
                <a:cs typeface="B Nazanin" panose="00000400000000000000" pitchFamily="2" charset="-78"/>
              </a:rPr>
              <a:t>LDA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en-US" sz="2800" dirty="0">
                <a:cs typeface="B Nazanin" panose="00000400000000000000" pitchFamily="2" charset="-78"/>
              </a:rPr>
              <a:t>t-SNE</a:t>
            </a:r>
            <a:r>
              <a:rPr lang="en-US" sz="2800" b="1" dirty="0">
                <a:cs typeface="B Nazanin" panose="00000400000000000000" pitchFamily="2" charset="-78"/>
              </a:rPr>
              <a:t/>
            </a:r>
            <a:br>
              <a:rPr lang="en-US" sz="2800" b="1" dirty="0">
                <a:cs typeface="B Nazanin" panose="00000400000000000000" pitchFamily="2" charset="-78"/>
              </a:rPr>
            </a:br>
            <a:endParaRPr lang="en-US" sz="28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67092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24B02E9-6EF6-F236-03E8-DD976909881F}"/>
              </a:ext>
            </a:extLst>
          </p:cNvPr>
          <p:cNvSpPr/>
          <p:nvPr/>
        </p:nvSpPr>
        <p:spPr>
          <a:xfrm>
            <a:off x="231228" y="220717"/>
            <a:ext cx="11719034" cy="6379780"/>
          </a:xfrm>
          <a:prstGeom prst="rect">
            <a:avLst/>
          </a:prstGeom>
          <a:solidFill>
            <a:srgbClr val="B1B7B1"/>
          </a:solidFill>
          <a:ln>
            <a:solidFill>
              <a:srgbClr val="B1B7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54500" y="129705"/>
            <a:ext cx="10058400" cy="1371600"/>
          </a:xfrm>
        </p:spPr>
        <p:txBody>
          <a:bodyPr>
            <a:normAutofit/>
          </a:bodyPr>
          <a:lstStyle/>
          <a:p>
            <a:r>
              <a:rPr lang="fa-IR" sz="3600" b="1" dirty="0">
                <a:cs typeface="B Nazanin" panose="00000400000000000000" pitchFamily="2" charset="-78"/>
              </a:rPr>
              <a:t>خروجی کاهش ابعاد</a:t>
            </a:r>
            <a:endParaRPr lang="en-US" sz="3600" b="1" dirty="0">
              <a:cs typeface="B Nazanin" panose="00000400000000000000" pitchFamily="2" charset="-78"/>
            </a:endParaRPr>
          </a:p>
        </p:txBody>
      </p:sp>
      <p:pic>
        <p:nvPicPr>
          <p:cNvPr id="3" name="Picture 2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384959"/>
            <a:ext cx="10058399" cy="192752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31428" y="3535415"/>
            <a:ext cx="62944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از نظر دقت به ترتیب </a:t>
            </a:r>
            <a:r>
              <a:rPr lang="en-US" sz="2400" dirty="0">
                <a:cs typeface="B Nazanin" panose="00000400000000000000" pitchFamily="2" charset="-78"/>
              </a:rPr>
              <a:t> Baseline &gt; PCA &gt; LDA &gt; t-SNE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0738" y="3973234"/>
            <a:ext cx="623510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از نظر سرعت آموزش</a:t>
            </a:r>
            <a:r>
              <a:rPr lang="en-US" sz="2400" dirty="0">
                <a:cs typeface="B Nazanin" panose="00000400000000000000" pitchFamily="2" charset="-78"/>
              </a:rPr>
              <a:t> LDA &gt; Baseline &gt; PCA &gt; t-SNE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0738" y="4408284"/>
            <a:ext cx="62960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a-IR" sz="2400" dirty="0">
                <a:cs typeface="B Nazanin" panose="00000400000000000000" pitchFamily="2" charset="-78"/>
              </a:rPr>
              <a:t>از نظر سرعت استنتاج</a:t>
            </a:r>
            <a:r>
              <a:rPr lang="en-US" sz="2400" dirty="0">
                <a:cs typeface="B Nazanin" panose="00000400000000000000" pitchFamily="2" charset="-78"/>
              </a:rPr>
              <a:t> t-SNE &gt; LDA &gt; PCA &gt;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300" y="4929335"/>
            <a:ext cx="513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en-US" sz="2400" b="1" dirty="0">
                <a:cs typeface="B Nazanin" panose="00000400000000000000" pitchFamily="2" charset="-78"/>
              </a:rPr>
              <a:t>PCA</a:t>
            </a:r>
            <a:r>
              <a:rPr lang="fa-IR" sz="2400" b="1" dirty="0">
                <a:cs typeface="B Nazanin" panose="00000400000000000000" pitchFamily="2" charset="-78"/>
              </a:rPr>
              <a:t> بهترین تکنینک کاهش بعد</a:t>
            </a:r>
            <a:endParaRPr lang="en-US" sz="2400" b="1" dirty="0">
              <a:cs typeface="B Nazanin" panose="000004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4147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/>
          <p:cNvGrpSpPr/>
          <p:nvPr/>
        </p:nvGrpSpPr>
        <p:grpSpPr>
          <a:xfrm>
            <a:off x="6845300" y="564704"/>
            <a:ext cx="4749801" cy="3931096"/>
            <a:chOff x="358050" y="-862612"/>
            <a:chExt cx="12173798" cy="10050277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6253" y="-862612"/>
              <a:ext cx="12155595" cy="8583224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3"/>
            <a:srcRect r="20102"/>
            <a:stretch/>
          </p:blipFill>
          <p:spPr>
            <a:xfrm>
              <a:off x="358050" y="7720611"/>
              <a:ext cx="12162971" cy="1467054"/>
            </a:xfrm>
            <a:prstGeom prst="rect">
              <a:avLst/>
            </a:prstGeom>
          </p:spPr>
        </p:pic>
      </p:grpSp>
      <p:pic>
        <p:nvPicPr>
          <p:cNvPr id="6" name="Picture 5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106" y="4635500"/>
            <a:ext cx="8013694" cy="16577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B1B0966-7581-5300-77D2-35B078A71FB5}"/>
              </a:ext>
            </a:extLst>
          </p:cNvPr>
          <p:cNvSpPr txBox="1"/>
          <p:nvPr/>
        </p:nvSpPr>
        <p:spPr>
          <a:xfrm>
            <a:off x="1507749" y="1059650"/>
            <a:ext cx="3556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fa-IR" sz="3600" b="1" dirty="0">
                <a:cs typeface="B Nazanin" panose="00000400000000000000" pitchFamily="2" charset="-78"/>
              </a:rPr>
              <a:t>آموزش 3 مدل</a:t>
            </a:r>
            <a:endParaRPr lang="en-US" sz="3600" b="1" dirty="0">
              <a:cs typeface="B Nazanin" panose="00000400000000000000" pitchFamily="2" charset="-78"/>
            </a:endParaRPr>
          </a:p>
          <a:p>
            <a:pPr marL="571500" indent="-571500" algn="l">
              <a:buFont typeface="Symbol" panose="05050102010706020507" pitchFamily="18" charset="2"/>
              <a:buChar char="-"/>
            </a:pPr>
            <a:r>
              <a:rPr lang="en-US" sz="3600" dirty="0">
                <a:cs typeface="B Nazanin" panose="00000400000000000000" pitchFamily="2" charset="-78"/>
              </a:rPr>
              <a:t>Logistic regression</a:t>
            </a:r>
          </a:p>
          <a:p>
            <a:pPr marL="571500" indent="-571500" algn="l">
              <a:buFont typeface="Symbol" panose="05050102010706020507" pitchFamily="18" charset="2"/>
              <a:buChar char="-"/>
            </a:pPr>
            <a:r>
              <a:rPr lang="en-US" sz="3600" dirty="0">
                <a:cs typeface="B Nazanin" panose="00000400000000000000" pitchFamily="2" charset="-78"/>
              </a:rPr>
              <a:t>SVM</a:t>
            </a:r>
          </a:p>
          <a:p>
            <a:pPr marL="571500" indent="-571500" algn="l">
              <a:buFont typeface="Symbol" panose="05050102010706020507" pitchFamily="18" charset="2"/>
              <a:buChar char="-"/>
            </a:pPr>
            <a:r>
              <a:rPr lang="en-US" sz="3600" dirty="0">
                <a:cs typeface="B Nazanin" panose="00000400000000000000" pitchFamily="2" charset="-78"/>
              </a:rPr>
              <a:t>Decision Tree</a:t>
            </a:r>
          </a:p>
        </p:txBody>
      </p:sp>
    </p:spTree>
    <p:extLst>
      <p:ext uri="{BB962C8B-B14F-4D97-AF65-F5344CB8AC3E}">
        <p14:creationId xmlns:p14="http://schemas.microsoft.com/office/powerpoint/2010/main" val="19357058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7299" y="484820"/>
            <a:ext cx="3320032" cy="255685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69" y="3188138"/>
            <a:ext cx="4756032" cy="31850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4868" y="3188138"/>
            <a:ext cx="6282463" cy="31850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180085-CC81-9E31-8553-785FFA94754F}"/>
              </a:ext>
            </a:extLst>
          </p:cNvPr>
          <p:cNvSpPr txBox="1"/>
          <p:nvPr/>
        </p:nvSpPr>
        <p:spPr>
          <a:xfrm>
            <a:off x="2879086" y="732193"/>
            <a:ext cx="505156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sz="3200" b="1" dirty="0">
                <a:cs typeface="B Nazanin" panose="00000400000000000000" pitchFamily="2" charset="-78"/>
              </a:rPr>
              <a:t>تنظیم </a:t>
            </a:r>
            <a:r>
              <a:rPr lang="fa-IR" sz="3200" b="1" dirty="0" err="1">
                <a:cs typeface="B Nazanin" panose="00000400000000000000" pitchFamily="2" charset="-78"/>
              </a:rPr>
              <a:t>هایپر</a:t>
            </a:r>
            <a:r>
              <a:rPr lang="fa-IR" sz="3200" b="1" dirty="0">
                <a:cs typeface="B Nazanin" panose="00000400000000000000" pitchFamily="2" charset="-78"/>
              </a:rPr>
              <a:t> </a:t>
            </a:r>
            <a:r>
              <a:rPr lang="fa-IR" sz="3200" b="1" dirty="0" err="1">
                <a:cs typeface="B Nazanin" panose="00000400000000000000" pitchFamily="2" charset="-78"/>
              </a:rPr>
              <a:t>پارامترها</a:t>
            </a:r>
            <a:endParaRPr lang="en-US" sz="3200" b="1" dirty="0">
              <a:cs typeface="B Nazanin" panose="00000400000000000000" pitchFamily="2" charset="-78"/>
            </a:endParaRP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en-US" sz="3200" dirty="0">
                <a:cs typeface="B Nazanin" panose="00000400000000000000" pitchFamily="2" charset="-78"/>
              </a:rPr>
              <a:t>Grid Search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en-US" sz="3200" dirty="0">
                <a:cs typeface="B Nazanin" panose="00000400000000000000" pitchFamily="2" charset="-78"/>
              </a:rPr>
              <a:t>Random Search</a:t>
            </a:r>
          </a:p>
          <a:p>
            <a:pPr marL="457200" indent="-457200">
              <a:buFont typeface="Symbol" panose="05050102010706020507" pitchFamily="18" charset="2"/>
              <a:buChar char="-"/>
            </a:pPr>
            <a:r>
              <a:rPr lang="en-US" sz="3200" dirty="0" err="1">
                <a:cs typeface="B Nazanin" panose="00000400000000000000" pitchFamily="2" charset="-78"/>
              </a:rPr>
              <a:t>Optuna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38355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50D50DD-0105-F50C-A518-A0B3497833B7}"/>
              </a:ext>
            </a:extLst>
          </p:cNvPr>
          <p:cNvSpPr/>
          <p:nvPr/>
        </p:nvSpPr>
        <p:spPr>
          <a:xfrm>
            <a:off x="569910" y="566999"/>
            <a:ext cx="11050590" cy="571984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569911" y="566999"/>
            <a:ext cx="4535489" cy="2877550"/>
            <a:chOff x="551676" y="-1734270"/>
            <a:chExt cx="11088647" cy="584888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 rotWithShape="1">
            <a:blip r:embed="rId2"/>
            <a:srcRect b="66058"/>
            <a:stretch/>
          </p:blipFill>
          <p:spPr>
            <a:xfrm>
              <a:off x="551676" y="-1734270"/>
              <a:ext cx="11088647" cy="3505014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 rotWithShape="1">
            <a:blip r:embed="rId2"/>
            <a:srcRect t="77302"/>
            <a:stretch/>
          </p:blipFill>
          <p:spPr>
            <a:xfrm>
              <a:off x="551676" y="1770744"/>
              <a:ext cx="11088647" cy="2343870"/>
            </a:xfrm>
            <a:prstGeom prst="rect">
              <a:avLst/>
            </a:prstGeom>
          </p:spPr>
        </p:pic>
      </p:grp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566999"/>
            <a:ext cx="4102100" cy="3216356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>
            <a:off x="569911" y="3304849"/>
            <a:ext cx="3942217" cy="2981998"/>
            <a:chOff x="-4392905" y="3901927"/>
            <a:chExt cx="6211168" cy="4539586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 rotWithShape="1">
            <a:blip r:embed="rId4"/>
            <a:srcRect b="91895"/>
            <a:stretch/>
          </p:blipFill>
          <p:spPr>
            <a:xfrm>
              <a:off x="-4392905" y="3901927"/>
              <a:ext cx="6211167" cy="714991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4"/>
            <a:srcRect t="56351"/>
            <a:stretch/>
          </p:blipFill>
          <p:spPr>
            <a:xfrm>
              <a:off x="-4392904" y="4591050"/>
              <a:ext cx="6211167" cy="38504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76151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CFFABAC-B262-9929-9E4D-E437E7D12C68}"/>
              </a:ext>
            </a:extLst>
          </p:cNvPr>
          <p:cNvSpPr/>
          <p:nvPr/>
        </p:nvSpPr>
        <p:spPr>
          <a:xfrm>
            <a:off x="945930" y="993228"/>
            <a:ext cx="10079421" cy="47822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9F06E9-67B3-7A3C-F186-17AA08FB2F7F}"/>
              </a:ext>
            </a:extLst>
          </p:cNvPr>
          <p:cNvSpPr txBox="1"/>
          <p:nvPr/>
        </p:nvSpPr>
        <p:spPr>
          <a:xfrm>
            <a:off x="2379278" y="1189563"/>
            <a:ext cx="7212724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ارزیابی و تکرارپذیری</a:t>
            </a:r>
            <a:br>
              <a:rPr kumimoji="0" lang="fa-IR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Random State = 42</a:t>
            </a:r>
            <a: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 در تمام قسمت های کد:</a:t>
            </a:r>
            <a:b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</a:br>
            <a: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تقسیم </a:t>
            </a:r>
            <a:r>
              <a:rPr kumimoji="0" lang="fa-I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داده‌ها</a:t>
            </a:r>
            <a: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/>
            </a:r>
            <a:b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</a:br>
            <a: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تنظیم </a:t>
            </a:r>
            <a:r>
              <a:rPr kumimoji="0" lang="fa-I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ابرپارامترها</a:t>
            </a:r>
            <a: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/>
            </a:r>
            <a:b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</a:br>
            <a:r>
              <a:rPr kumimoji="0" lang="fa-I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مدل‌ها</a:t>
            </a:r>
            <a: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/>
            </a:r>
            <a:b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</a:br>
            <a: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کاهش بعد</a:t>
            </a:r>
            <a:br>
              <a:rPr kumimoji="0" lang="fa-I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Train/Test : 80/20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</a:b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B Nazanin" panose="00000400000000000000" pitchFamily="2" charset="-78"/>
              </a:rPr>
              <a:t>stratify</a:t>
            </a:r>
          </a:p>
        </p:txBody>
      </p:sp>
    </p:spTree>
    <p:extLst>
      <p:ext uri="{BB962C8B-B14F-4D97-AF65-F5344CB8AC3E}">
        <p14:creationId xmlns:p14="http://schemas.microsoft.com/office/powerpoint/2010/main" val="2711854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3D2340F-419F-2C1D-C8DE-DFC0DC4143A9}"/>
              </a:ext>
            </a:extLst>
          </p:cNvPr>
          <p:cNvSpPr/>
          <p:nvPr/>
        </p:nvSpPr>
        <p:spPr>
          <a:xfrm>
            <a:off x="99541" y="0"/>
            <a:ext cx="11863858" cy="673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12" y="653507"/>
            <a:ext cx="8982175" cy="1543593"/>
          </a:xfrm>
          <a:prstGeom prst="rect">
            <a:avLst/>
          </a:prstGeom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1" y="2813008"/>
            <a:ext cx="3685598" cy="330231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6155" y="2844540"/>
            <a:ext cx="3889827" cy="3262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1174" y="2825420"/>
            <a:ext cx="3957203" cy="330231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87969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4A6C88B-8D34-89B3-DFAA-B5CFAC527EBD}"/>
              </a:ext>
            </a:extLst>
          </p:cNvPr>
          <p:cNvSpPr/>
          <p:nvPr/>
        </p:nvSpPr>
        <p:spPr>
          <a:xfrm>
            <a:off x="220717" y="231228"/>
            <a:ext cx="11719035" cy="6379779"/>
          </a:xfrm>
          <a:prstGeom prst="rect">
            <a:avLst/>
          </a:prstGeom>
          <a:solidFill>
            <a:srgbClr val="DFBFA1"/>
          </a:solidFill>
          <a:ln>
            <a:solidFill>
              <a:srgbClr val="DFB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230" y="1252233"/>
            <a:ext cx="5186680" cy="415734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6090" y="1252233"/>
            <a:ext cx="5186680" cy="415734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31094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B25B440-A60D-576C-5B79-56F7175C7C5B}"/>
              </a:ext>
            </a:extLst>
          </p:cNvPr>
          <p:cNvSpPr/>
          <p:nvPr/>
        </p:nvSpPr>
        <p:spPr>
          <a:xfrm>
            <a:off x="154985" y="105103"/>
            <a:ext cx="11942422" cy="65714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29" y="225220"/>
            <a:ext cx="3845036" cy="2960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7857" y="300544"/>
            <a:ext cx="3715658" cy="2960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9646" y="310179"/>
            <a:ext cx="3611971" cy="298456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93" y="3563255"/>
            <a:ext cx="3969057" cy="306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304" y="3563256"/>
            <a:ext cx="3969058" cy="3069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1703" y="3563256"/>
            <a:ext cx="3661954" cy="3116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93343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8AB1702-7741-0B61-F395-4C40ED65D627}"/>
              </a:ext>
            </a:extLst>
          </p:cNvPr>
          <p:cNvSpPr/>
          <p:nvPr/>
        </p:nvSpPr>
        <p:spPr>
          <a:xfrm>
            <a:off x="2448910" y="695006"/>
            <a:ext cx="9088116" cy="257371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0380" y="3346229"/>
            <a:ext cx="10058400" cy="1371600"/>
          </a:xfrm>
        </p:spPr>
        <p:txBody>
          <a:bodyPr/>
          <a:lstStyle/>
          <a:p>
            <a:r>
              <a:rPr lang="fa-IR" b="1" dirty="0">
                <a:cs typeface="B Nazanin" panose="00000400000000000000" pitchFamily="2" charset="-78"/>
              </a:rPr>
              <a:t>نتیجه گیری</a:t>
            </a:r>
            <a:endParaRPr lang="en-US" b="1" dirty="0">
              <a:cs typeface="B Nazanin" panose="00000400000000000000" pitchFamily="2" charset="-7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3966" y="695006"/>
            <a:ext cx="8323060" cy="12722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4550" y="1967246"/>
            <a:ext cx="9102988" cy="127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2694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736059"/>
      </a:dk2>
      <a:lt2>
        <a:srgbClr val="E7E0C7"/>
      </a:lt2>
      <a:accent1>
        <a:srgbClr val="92B0C8"/>
      </a:accent1>
      <a:accent2>
        <a:srgbClr val="E37C3D"/>
      </a:accent2>
      <a:accent3>
        <a:srgbClr val="A5AB81"/>
      </a:accent3>
      <a:accent4>
        <a:srgbClr val="E9B635"/>
      </a:accent4>
      <a:accent5>
        <a:srgbClr val="7BA79D"/>
      </a:accent5>
      <a:accent6>
        <a:srgbClr val="968C8C"/>
      </a:accent6>
      <a:hlink>
        <a:srgbClr val="F7A115"/>
      </a:hlink>
      <a:folHlink>
        <a:srgbClr val="969696"/>
      </a:folHlink>
    </a:clrScheme>
    <a:fontScheme name="Savon">
      <a:maj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3F20CFC1-E34F-405B-AA49-5BE0E194F1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222</TotalTime>
  <Words>282</Words>
  <Application>Microsoft Office PowerPoint</Application>
  <PresentationFormat>Widescreen</PresentationFormat>
  <Paragraphs>103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B Nazanin</vt:lpstr>
      <vt:lpstr>BNazanin</vt:lpstr>
      <vt:lpstr>Calibri</vt:lpstr>
      <vt:lpstr>Courier New</vt:lpstr>
      <vt:lpstr>Garamond</vt:lpstr>
      <vt:lpstr>Symbol</vt:lpstr>
      <vt:lpstr>Times New Roman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قسمت های مهم کد بخش پیش پردازش</vt:lpstr>
      <vt:lpstr>خروجی های پیش پردازش </vt:lpstr>
      <vt:lpstr>PowerPoint Presentation</vt:lpstr>
      <vt:lpstr>خروجی کاهش ابعاد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نتیجه گیری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موضوع و اسم فامیل</dc:title>
  <dc:creator>RePack by Diakov</dc:creator>
  <cp:lastModifiedBy>RePack by Diakov</cp:lastModifiedBy>
  <cp:revision>15</cp:revision>
  <dcterms:created xsi:type="dcterms:W3CDTF">2026-02-13T13:01:24Z</dcterms:created>
  <dcterms:modified xsi:type="dcterms:W3CDTF">2026-02-13T16:57:37Z</dcterms:modified>
</cp:coreProperties>
</file>